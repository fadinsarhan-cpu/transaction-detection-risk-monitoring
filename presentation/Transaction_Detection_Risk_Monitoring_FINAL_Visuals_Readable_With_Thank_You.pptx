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33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Title
Speaker notes: Open with the project as a BI consulting-style solution: a data pipeline, dashboard, and ML support for AML monitoring.
Estimated speaking time: 30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The Business Problem
Speaker notes: Explain the challenge in simple terms: AML teams do not need more raw data; they need clearer risk prioritization.
Estimated speaking time: 30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Why This Problem Matters
Speaker notes: Connect AML monitoring to compliance, risk, efficiency, and management visibility.
Estimated speaking time: 30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Project Objectives
Speaker notes: Keep this quick. This slide shows the project is not only technical; it is a full BI solution.
Estimated speaking time: 30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Data Acquisition &amp; Dataset Overview
Speaker notes: Justify SAML-D clearly: real banking data is private, so synthetic AML data is appropriate for academic work.
Estimated speaking time: 40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Data Preparation &amp; ETL
Speaker notes: Show the ETL evidence but explain the business meaning: clean data creates reliable monitoring.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Feature Engineering
Speaker notes: Explain that features translate raw columns into risk signals that models and dashboards can use.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Core Analytical Challenge
Speaker notes: This slide explains why AML analytics is difficult and prepares the committee for the ML discussion.
Estimated speaking time: 40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EDA Finding: Transaction Amount Patterns
Speaker notes: Do not describe the chart. Explain the insight: amount matters, but amount alone is not enough.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EDA Finding: Risk Differs by Payment Type
Speaker notes: This is a strong business insight: volume and risk density are different.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EDA Finding: Volume Does Not Equal Risk
Speaker notes: Explain that large channels are important operationally, but not necessarily the highest risk.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EDA Finding: Numeric Relationships Are Limited
Speaker notes: Explain why the project needed feature engineering and dashboards, not only correlation.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Key Business Finding: Typologies Explain the Alert
Speaker notes: Explain typology as the reason behind suspicious activity. This is important for analyst decisions.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Key Business Findings Summary
Speaker notes: Use this as the transition from analytics to the dashboard solution.
Estimated speaking time: 40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Dashboard Monitoring Solution
Speaker notes: Let the dashboard dominate the slide. Explain that it is the main BI deliverable.
Estimated speaking time: 40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Dashboard Component: KPI Monitoring
Speaker notes: Explain the four KPIs and why they matter to a compliance manager.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Dashboard Component: Alert Trend Monitoring
Speaker notes: Explain how trends help compliance teams move from static reporting to monitoring.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Dashboard Component: Payment Type &amp; Typology
Speaker notes: This slide connects dashboard visuals to practical AML investigation prioritization.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Why Machine Learning
Speaker notes: Frame ML as a practical business tool for prioritization and scalability.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Machine Learning Pipeline
Speaker notes: Explain the workflow simply. The committee should see that the ML work was structured.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Model Comparison
Speaker notes: Present the metrics honestly. High accuracy is misleading because the suspicious class is extremely rare.
Estimated speaking time: 45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Key Lesson
Speaker notes: This is the defense-safe explanation. Do not overclaim the ML model; show that you understand the limitation.
Estimated speaking time: 40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Technical Evidence: Data Pipeline
Speaker notes: Keep this slide short. It proves implementation without turning into a code walkthrough.
Estimated speaking time: 30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Technical Evidence: Statistical Validation
Speaker notes: Explain that you used statistical validation, not only visual observation.
Estimated speaking time: 35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Technical Evidence: ML Pipeline
Speaker notes: Show implementation evidence but stay focused on the lesson: ML requires stronger features and imbalance-aware evaluation.
Estimated speaking time: 30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 Business Value, Recommendations &amp; Future Enhancements
Speaker notes: Close with business value, clear recommendations, and future direction. End confidently.
Estimated speaking time: 45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9792" y="713232"/>
            <a:ext cx="4023360" cy="4023360"/>
          </a:xfrm>
          <a:prstGeom prst="arc">
            <a:avLst/>
          </a:prstGeom>
          <a:noFill/>
          <a:ln w="12700">
            <a:solidFill>
              <a:srgbClr val="06B6D4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65008" y="1298448"/>
            <a:ext cx="2880360" cy="2880360"/>
          </a:xfrm>
          <a:prstGeom prst="arc">
            <a:avLst/>
          </a:prstGeom>
          <a:noFill/>
          <a:ln w="12700">
            <a:solidFill>
              <a:srgbClr val="0EA5E9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87552"/>
            <a:ext cx="5897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Detection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Risk Monitoring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A Business Intelligence solution for AML transaction monitoring, dashboard-based risk visibility, and analyst decision support.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13232" y="3675888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F5EFF"/>
          </a:solidFill>
          <a:ln w="12700">
            <a:solidFill>
              <a:srgbClr val="1F5E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744468"/>
            <a:ext cx="1545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Business Intelligence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3675888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3744468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Power BI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94760" y="367588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3744468"/>
            <a:ext cx="1316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AML Monitoring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49824" y="3675888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3744468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Machine Learning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Author: Fadi Sarhan (202020144)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Supervisor: Dr. Husam Barham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University of Petra | Graduation Project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Second Semester 2025/2026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35240" y="50566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From raw transactions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to actionable AML intelligence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BUSINESS CONTEXT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Suspicious activity is rare, but the cost of missing it is high.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48840"/>
            <a:ext cx="64008" cy="1143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286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High transaction volume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1042416" y="25877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Banks process large numbers of transactions that cannot all be reviewed manually.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480560" y="21488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1488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286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Rare suspicious behavior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4700016" y="25877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Only a very small fraction of transactions are suspicious, making detection difficult.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138160" y="21488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3F0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14884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286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Need for risk prioritization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8357616" y="25877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Compliance teams need to know which alerts deserve attention first.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1143000" y="4663440"/>
            <a:ext cx="9829800" cy="822960"/>
          </a:xfrm>
          <a:prstGeom prst="roundRect">
            <a:avLst>
              <a:gd name="adj" fmla="val 777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937760"/>
            <a:ext cx="9281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This project turns transaction data into risk visibility and decision support.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BUSINESS VALUE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904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Risk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2688" y="194767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Financial and reputational exposure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520440" y="13258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14904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Compliance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30168" y="194767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Supports AML monitoring responsibilities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4904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Efficiency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27648" y="194767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Reduces manual review pressure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915400" y="13258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8552" y="14904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Visibility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25128" y="194767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Management-level risk overview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914400" y="3822192"/>
            <a:ext cx="102870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4096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EFF"/>
                </a:solidFill>
              </a:rPr>
              <a:t>BI contribution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63240" y="40416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Dashboards and analytics help compliance teams move from reactive investigation to structured, data-driven 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FROM DATA TO DECISION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234440"/>
            <a:ext cx="64008" cy="10515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1371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1. Prepare trusted data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996696" y="16733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Clean and structure SAML-D transaction records for analysis.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434840" y="12344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23444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371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2. Discover risk patterns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654296" y="16733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Analyze payment type, amount, typology, and location behavior.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092440" y="123444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234440"/>
            <a:ext cx="6400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371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3. Build monitoring dashboards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8311896" y="16733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Create BI visuals that support AML investigation and management review.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2606040" y="292608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3F0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926080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25496" y="30632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4. Test ML support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2825496" y="33649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Evaluate whether transaction features can support risk prioritization.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263640" y="2926080"/>
            <a:ext cx="32918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926080"/>
            <a:ext cx="64008" cy="10515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3096" y="306324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5. Recommend actions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6483096" y="33649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Translate findings into practical compliance recommendations.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49808" y="6089904"/>
            <a:ext cx="10744200" cy="384048"/>
          </a:xfrm>
          <a:prstGeom prst="roundRect">
            <a:avLst>
              <a:gd name="adj" fmla="val 952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199632"/>
            <a:ext cx="10378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project follows the BI lifecycle: data preparation → insight discovery → dashboard monitoring → decision support.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Acquisition &amp; Dataset Overview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SAML-D DATA FOUNDATION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35331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EFF"/>
                </a:solidFill>
              </a:rPr>
              <a:t>9.5M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5528" y="181051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Original SAML-D transaction scale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154680" y="118872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35331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950,486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64408" y="181051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Working analysis sample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623560" y="118872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6712" y="135331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1,011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33288" y="181051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Suspicious alerts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092440" y="118872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135331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0.106%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02168" y="1810512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Suspicious rate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77240" y="30632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FF1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063240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3200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Why not real banking data?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996696" y="35021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Real transaction data is sensitive, regulated, and difficult to access because it contains private customer and financial information.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480560" y="30632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063240"/>
            <a:ext cx="64008" cy="1234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200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Why SAML-D?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4700016" y="35021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SAML-D provides a safe synthetic AML dataset with transaction fields, labels, typologies, currencies, and locations suitable for academic research.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183880" y="306324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3063240"/>
            <a:ext cx="6400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3336" y="3200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Why it fits this project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8403336" y="35021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It supports BI dashboards, EDA, statistical analysis, and machine learning experiments without exposing real customer data.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49808" y="6089904"/>
            <a:ext cx="10744200" cy="384048"/>
          </a:xfrm>
          <a:prstGeom prst="roundRect">
            <a:avLst>
              <a:gd name="adj" fmla="val 952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6199632"/>
            <a:ext cx="10378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Using synthetic data was a deliberate academic choice, not a shortcut.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Preparation &amp; ETL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DATA QUALITY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ET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23" y="1115568"/>
            <a:ext cx="5759313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95160" y="1280160"/>
            <a:ext cx="4114800" cy="868680"/>
          </a:xfrm>
          <a:prstGeom prst="roundRect">
            <a:avLst>
              <a:gd name="adj" fmla="val 6316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95160" y="1280160"/>
            <a:ext cx="64008" cy="86868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14616" y="14173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Purpose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7214616" y="17190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Convert raw transaction records into a clean and consistent dataset.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995160" y="251460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95160" y="2514600"/>
            <a:ext cx="6400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14616" y="265176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Key preparation steps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7214616" y="2953512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Standardized fields, converted dates and amounts, removed invalid rows, and prepared data for dashboarding and modeling.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6995160" y="406908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95160" y="406908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14616" y="4206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value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7214616" y="45079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Reliable BI decisions require trusted data. Bad data would produce misleading KPIs and alerts.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CREATING RISK SIGNALS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M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160" y="1143000"/>
            <a:ext cx="4333961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46520" y="123444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234440"/>
            <a:ext cx="64008" cy="8229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5976" y="137160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Baseline feature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6665976" y="16733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Transaction amount was first tested as a simple baseline signal.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446520" y="237744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2377440"/>
            <a:ext cx="6400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65976" y="251460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Expanded risk context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6665976" y="281635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Payment type, currencies, sender/receiver locations, amount bands, large-transaction flags, and sender risk ratios add more AML context.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6446520" y="3840480"/>
            <a:ext cx="4572000" cy="1005840"/>
          </a:xfrm>
          <a:prstGeom prst="roundRect">
            <a:avLst>
              <a:gd name="adj" fmla="val 5455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384048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65976" y="397764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meaning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6665976" y="427939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AML risk is behavioral. A single value is rarely enough without channel, customer, and corridor context.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Analytical Challenge: Rare-Event Detection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CLASS IMBALANCE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bi_manual_assets/class_imbalance_950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21571"/>
            <a:ext cx="6172200" cy="334851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23760" y="137160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1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23760" y="1371600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43216" y="1508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Key insight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7443216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Suspicious activity represents only around 0.106% of the analyzed transactions.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223760" y="2606040"/>
            <a:ext cx="3977640" cy="1005840"/>
          </a:xfrm>
          <a:prstGeom prst="roundRect">
            <a:avLst>
              <a:gd name="adj" fmla="val 5455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3760" y="26060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43216" y="2743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So what?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7443216" y="3044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 model can appear accurate by predicting almost everything as normal.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223760" y="397764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23760" y="3977640"/>
            <a:ext cx="64008" cy="10515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43216" y="4114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Evaluation focus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7443216" y="4416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Recall, precision, F1-score, ROC-AUC, and analyst prioritization matter more than simple accuracy.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Finding: Transaction Amount Patterns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WHAT THE DATA REVEALED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ED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493" y="1051560"/>
            <a:ext cx="5845213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Insight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8449056" y="18562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Suspicious transactions contain higher-value outliers, but there is still overlap with normal behavior.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229600" y="2880360"/>
            <a:ext cx="3063240" cy="1005840"/>
          </a:xfrm>
          <a:prstGeom prst="roundRect">
            <a:avLst>
              <a:gd name="adj" fmla="val 5455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88036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3017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Impact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449056" y="3319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Amount is useful as a risk signal, but it should not be used alone to flag suspicious activity.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229600" y="425196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251960"/>
            <a:ext cx="64008" cy="9144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43891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8449056" y="4690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Use amount thresholds together with typology, payment type, and customer behavior.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Finding: Risk Differs by Payment Type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CHANNEL RISK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F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3701" y="1051560"/>
            <a:ext cx="4650797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Insight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8449056" y="1856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Some payment channels show higher suspicious density than others.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229600" y="269748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697480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834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Impact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449056" y="31363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Monitoring thresholds should be adjusted by payment type rather than applying one rule to all channels.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229600" y="41605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160520"/>
            <a:ext cx="64008" cy="9144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4297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8449056" y="4599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Compliance teams can prioritize channels with higher suspicious rates.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Finding: Volume Does Not Equal Risk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PAYMENT CHANNEL ANALYSIS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ED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416" y="1051560"/>
            <a:ext cx="6255368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3063240" cy="1005840"/>
          </a:xfrm>
          <a:prstGeom prst="roundRect">
            <a:avLst>
              <a:gd name="adj" fmla="val 5455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Insight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8449056" y="1856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High-volume payment types dominate the dataset, but suspicious cases remain a very small minority.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229600" y="278892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788920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Impact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449056" y="32278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 bank should monitor both total volume and suspicious rate to avoid missing risk in smaller channels.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229600" y="429768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297680"/>
            <a:ext cx="64008" cy="8229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4434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8449056" y="4736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Combine volume dashboards with risk-density KPIs.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Finding: Numeric Relationships Are Limited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CORRELATION CHECK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ED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6570" y="1051560"/>
            <a:ext cx="446506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Insight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8449056" y="1856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Simple numeric correlations do not fully explain suspicious behavior.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229600" y="269748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697480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2834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Impact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449056" y="313639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AML risk requires behavioral and categorical context, not only numeric relationships.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229600" y="41605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160520"/>
            <a:ext cx="64008" cy="9144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4297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8449056" y="4599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Use feature engineering and dashboard segmentation to uncover hidden patterns.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Business Finding: Typologies Explain the Alert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TYPOLOGY ANALYSIS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dash_ty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67028"/>
            <a:ext cx="7086600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3063240" cy="1097280"/>
          </a:xfrm>
          <a:prstGeom prst="roundRect">
            <a:avLst>
              <a:gd name="adj" fmla="val 5000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Insight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8449056" y="18562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Structuring is the strongest suspicious typology, followed by cash-withdrawal and smurfing patterns.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229600" y="288036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880360"/>
            <a:ext cx="6400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9056" y="3017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Impact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449056" y="3319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Typology analysis helps investigators understand why an alert is risky, not only that it is risky.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8229600" y="434340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4343400"/>
            <a:ext cx="64008" cy="8229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49056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8449056" y="4782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Prioritize repeated typologies and design monitoring rules around them.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Business Findings Summary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FROM ANALYSIS TO ACTION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18872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325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1. Rare-event problem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950976" y="16276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Only ~0.106% of transactions are suspicious, making prioritization essential.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1887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325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2. Amount helps, but not alone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608576" y="16276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Suspicious transactions include outliers, but overlap with normal behavior.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046720" y="118872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188720"/>
            <a:ext cx="64008" cy="109728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1325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3. Channel risk differs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8266176" y="16276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Payment type changes suspicious density and monitoring priorities.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2514600" y="306324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3063240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4056" y="3200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4. Typologies support investigation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2734056" y="3502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Laundering types explain the suspicious behavior pattern.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263640" y="3063240"/>
            <a:ext cx="3429000" cy="1097280"/>
          </a:xfrm>
          <a:prstGeom prst="roundRect">
            <a:avLst>
              <a:gd name="adj" fmla="val 5000"/>
            </a:avLst>
          </a:prstGeom>
          <a:solidFill>
            <a:srgbClr val="F3F0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06324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3096" y="32004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5. Dashboarding makes insights usable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6483096" y="35021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Power BI turns findings into continuous monitoring and decision support.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49808" y="6089904"/>
            <a:ext cx="10744200" cy="384048"/>
          </a:xfrm>
          <a:prstGeom prst="roundRect">
            <a:avLst>
              <a:gd name="adj" fmla="val 952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199632"/>
            <a:ext cx="10378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EDA findings justify the dashboard and machine learning components.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Monitoring Solution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POWER BI SHOWCASE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Dashboard_Ann_Pat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188" y="1024128"/>
            <a:ext cx="9555144" cy="5440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9808" y="6089904"/>
            <a:ext cx="10744200" cy="384048"/>
          </a:xfrm>
          <a:prstGeom prst="roundRect">
            <a:avLst>
              <a:gd name="adj" fmla="val 952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6199632"/>
            <a:ext cx="10378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 single monitoring view for KPIs, monthly trends, payment type risk, typologies, and suspicious value exposure.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Component: KPI Monitoring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EXECUTIVE VIEW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dash_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2474"/>
            <a:ext cx="10881360" cy="9098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288036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304495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EFF"/>
                </a:solidFill>
              </a:rPr>
              <a:t>950,486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32688" y="350215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Total Transactions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347472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7872" y="3044952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1,011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584448" y="35021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Suspicious Alerts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852160" y="288036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25312" y="3044952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0.106%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961888" y="3502152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Alert Rate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8229600" y="288036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02752" y="304495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£47.14M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339328" y="350215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Suspicious Value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777240" y="489204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4892040"/>
            <a:ext cx="64008" cy="7772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6696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Purpose</a:t>
            </a:r>
            <a:endParaRPr lang="en-US" sz="1160" dirty="0"/>
          </a:p>
        </p:txBody>
      </p:sp>
      <p:sp>
        <p:nvSpPr>
          <p:cNvPr id="25" name="Text 22"/>
          <p:cNvSpPr/>
          <p:nvPr/>
        </p:nvSpPr>
        <p:spPr>
          <a:xfrm>
            <a:off x="996696" y="5330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Show the overall AML monitoring status quickly.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4434840" y="489204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34840" y="4892040"/>
            <a:ext cx="64008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54296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Value</a:t>
            </a:r>
            <a:endParaRPr lang="en-US" sz="1160" dirty="0"/>
          </a:p>
        </p:txBody>
      </p:sp>
      <p:sp>
        <p:nvSpPr>
          <p:cNvPr id="29" name="Text 26"/>
          <p:cNvSpPr/>
          <p:nvPr/>
        </p:nvSpPr>
        <p:spPr>
          <a:xfrm>
            <a:off x="4654296" y="5330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Gives management visibility into workload and suspicious exposure.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8092440" y="4892040"/>
            <a:ext cx="3337560" cy="777240"/>
          </a:xfrm>
          <a:prstGeom prst="roundRect">
            <a:avLst>
              <a:gd name="adj" fmla="val 7059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92440" y="489204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11896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33" name="Text 30"/>
          <p:cNvSpPr/>
          <p:nvPr/>
        </p:nvSpPr>
        <p:spPr>
          <a:xfrm>
            <a:off x="8311896" y="5330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Helps decide whether investigation capacity or controls need attention.</a:t>
            </a:r>
            <a:endParaRPr lang="en-US" sz="9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Component: Alert Trend Monitoring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TIME-BASED RISK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dash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72019"/>
            <a:ext cx="7498080" cy="290248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3063240" cy="868680"/>
          </a:xfrm>
          <a:prstGeom prst="roundRect">
            <a:avLst>
              <a:gd name="adj" fmla="val 6316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1554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Purpose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8449056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Track suspicious alerts over time by payment type.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955280" y="2651760"/>
            <a:ext cx="3337560" cy="1051560"/>
          </a:xfrm>
          <a:prstGeom prst="roundRect">
            <a:avLst>
              <a:gd name="adj" fmla="val 5217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2651760"/>
            <a:ext cx="64008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4736" y="27889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Value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174736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Monthly patterns help identify spikes, seasonality, or channel-specific changes.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955280" y="4069080"/>
            <a:ext cx="3337560" cy="960120"/>
          </a:xfrm>
          <a:prstGeom prst="roundRect">
            <a:avLst>
              <a:gd name="adj" fmla="val 5714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55280" y="406908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8174736" y="4507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Allocate analyst capacity and investigate sudden increases in specific channels.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Component: Payment Type &amp; Typology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INVESTIGATION PRIORITIZATION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dash_pa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25667"/>
            <a:ext cx="5074920" cy="2137787"/>
          </a:xfrm>
          <a:prstGeom prst="rect">
            <a:avLst/>
          </a:prstGeom>
        </p:spPr>
      </p:pic>
      <p:pic>
        <p:nvPicPr>
          <p:cNvPr id="10" name="Image 1" descr="/mnt/data/dash_typolo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423" y="3429000"/>
            <a:ext cx="4074795" cy="2103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80760" y="128016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80760" y="1280160"/>
            <a:ext cx="64008" cy="86868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00216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Purpose</a:t>
            </a:r>
            <a:endParaRPr lang="en-US" sz="1160" dirty="0"/>
          </a:p>
        </p:txBody>
      </p:sp>
      <p:sp>
        <p:nvSpPr>
          <p:cNvPr id="14" name="Text 10"/>
          <p:cNvSpPr/>
          <p:nvPr/>
        </p:nvSpPr>
        <p:spPr>
          <a:xfrm>
            <a:off x="6300216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Compare suspicious activity by payment channel and laundering pattern.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6080760" y="2514600"/>
            <a:ext cx="5074920" cy="1005840"/>
          </a:xfrm>
          <a:prstGeom prst="roundRect">
            <a:avLst>
              <a:gd name="adj" fmla="val 5455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2514600"/>
            <a:ext cx="64008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00216" y="26517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Value</a:t>
            </a:r>
            <a:endParaRPr lang="en-US" sz="1160" dirty="0"/>
          </a:p>
        </p:txBody>
      </p:sp>
      <p:sp>
        <p:nvSpPr>
          <p:cNvPr id="18" name="Text 14"/>
          <p:cNvSpPr/>
          <p:nvPr/>
        </p:nvSpPr>
        <p:spPr>
          <a:xfrm>
            <a:off x="6300216" y="2953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Shows where risk is concentrated and what behavior category is driving alerts.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6080760" y="3886200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80760" y="388620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00216" y="40233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Decision Support</a:t>
            </a:r>
            <a:endParaRPr lang="en-US" sz="1160" dirty="0"/>
          </a:p>
        </p:txBody>
      </p:sp>
      <p:sp>
        <p:nvSpPr>
          <p:cNvPr id="22" name="Text 18"/>
          <p:cNvSpPr/>
          <p:nvPr/>
        </p:nvSpPr>
        <p:spPr>
          <a:xfrm>
            <a:off x="6300216" y="4325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Prioritize investigation queues by high-risk payment types and repeated typologies.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Machine Learning?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ANALYST SUPPORT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822960" y="123444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234440"/>
            <a:ext cx="64008" cy="12801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3716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Analysts cannot review everything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1042416" y="16733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950K transactions require scalable risk prioritization, not manual review of all records.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434840" y="123444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23444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3716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Rules may miss hidden patterns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654296" y="16733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Static thresholds can miss suspicious behavior that depends on context.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046720" y="123444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234440"/>
            <a:ext cx="64008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13716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ML supports prioritization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8266176" y="16733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Models can rank transactions so analysts focus on higher-risk cases first.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2296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EE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Raw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07108" y="40965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7170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EE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0827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ETL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40965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2044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EAFB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701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Engineering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4588" y="40965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6918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EAFB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575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Encoding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&amp; Scaling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53328" y="40965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SMOTE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02068" y="40965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6666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F3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0323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Training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750808" y="40965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91540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5197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Evaluation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099548" y="409651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264140" y="3749040"/>
            <a:ext cx="1248156" cy="822960"/>
          </a:xfrm>
          <a:prstGeom prst="roundRect">
            <a:avLst>
              <a:gd name="adj" fmla="val 5556"/>
            </a:avLst>
          </a:prstGeom>
          <a:solidFill>
            <a:srgbClr val="0B1F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00716" y="3950208"/>
            <a:ext cx="1156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9808" y="6089904"/>
            <a:ext cx="10744200" cy="384048"/>
          </a:xfrm>
          <a:prstGeom prst="roundRect">
            <a:avLst>
              <a:gd name="adj" fmla="val 952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6199632"/>
            <a:ext cx="10378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Machine learning was used as decision support for analysts — not as an automatic blocking system.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Pipeline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TECHNICAL FLOW, BUSINESS PURPOSE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EE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Raw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5663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40255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EE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6831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ETL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30118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94710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EAFB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1286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Engineering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84573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49165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EAFB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5741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Encoding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&amp; Scaling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39028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03620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0196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SMOTE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93483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58075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F3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4651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Training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47938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12530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49106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Evaluation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02393" y="176479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166985" y="1417320"/>
            <a:ext cx="1253871" cy="1005840"/>
          </a:xfrm>
          <a:prstGeom prst="roundRect">
            <a:avLst>
              <a:gd name="adj" fmla="val 4545"/>
            </a:avLst>
          </a:prstGeom>
          <a:solidFill>
            <a:srgbClr val="0B1F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03561" y="1618488"/>
            <a:ext cx="1162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Priority</a:t>
            </a:r>
            <a:endParaRPr lang="en-US" sz="950" dirty="0"/>
          </a:p>
        </p:txBody>
      </p:sp>
      <p:pic>
        <p:nvPicPr>
          <p:cNvPr id="32" name="Image 0" descr="/mnt/data/ML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053" y="2880360"/>
            <a:ext cx="2546134" cy="224028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172200" y="301752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72200" y="3017520"/>
            <a:ext cx="640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91656" y="31546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purpose</a:t>
            </a:r>
            <a:endParaRPr lang="en-US" sz="1160" dirty="0"/>
          </a:p>
        </p:txBody>
      </p:sp>
      <p:sp>
        <p:nvSpPr>
          <p:cNvPr id="36" name="Text 33"/>
          <p:cNvSpPr/>
          <p:nvPr/>
        </p:nvSpPr>
        <p:spPr>
          <a:xfrm>
            <a:off x="6391656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Convert transaction features into a risk-prioritization workflow that can support analyst review.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6172200" y="4206240"/>
            <a:ext cx="4983480" cy="914400"/>
          </a:xfrm>
          <a:prstGeom prst="roundRect">
            <a:avLst>
              <a:gd name="adj" fmla="val 6000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72200" y="4206240"/>
            <a:ext cx="64008" cy="9144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91656" y="43434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Modeling approach</a:t>
            </a:r>
            <a:endParaRPr lang="en-US" sz="1160" dirty="0"/>
          </a:p>
        </p:txBody>
      </p:sp>
      <p:sp>
        <p:nvSpPr>
          <p:cNvPr id="40" name="Text 37"/>
          <p:cNvSpPr/>
          <p:nvPr/>
        </p:nvSpPr>
        <p:spPr>
          <a:xfrm>
            <a:off x="6391656" y="46451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Logistic Regression and Random Forest were tested with scaling, class weighting, and imbalance-aware evaluation.</a:t>
            </a:r>
            <a:endParaRPr lang="en-US" sz="9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Comparison: Accuracy Is Not Enough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ML RESULTS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bi_manual_asset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551" y="1051560"/>
            <a:ext cx="5889258" cy="315468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407408"/>
          <a:ext cx="5989320" cy="1097280"/>
        </p:xfrm>
        <a:graphic>
          <a:graphicData uri="http://schemas.openxmlformats.org/drawingml/2006/table">
            <a:tbl>
              <a:tblPr/>
              <a:tblGrid>
                <a:gridCol w="998220"/>
                <a:gridCol w="998220"/>
                <a:gridCol w="998220"/>
                <a:gridCol w="998220"/>
                <a:gridCol w="998220"/>
                <a:gridCol w="9982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Model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Accuracy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Precision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Recall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F1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ROC-AUC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Logistic Regression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0.79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0.00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0.24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0.00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0.508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Random Forest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1.00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0.00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0.00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0.00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0.502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Gradient Boosting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11827"/>
                          </a:solidFill>
                        </a:rPr>
                        <a:t>0.580</a:t>
                      </a:r>
                      <a:endParaRPr lang="en-US" sz="780" dirty="0"/>
                    </a:p>
                  </a:txBody>
                  <a:tcPr marL="27432" marR="27432" marT="27432" marB="2743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315200" y="132588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FF1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0" y="132588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34656" y="1463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Main lesson</a:t>
            </a:r>
            <a:endParaRPr lang="en-US" sz="1160" dirty="0"/>
          </a:p>
        </p:txBody>
      </p:sp>
      <p:sp>
        <p:nvSpPr>
          <p:cNvPr id="14" name="Text 10"/>
          <p:cNvSpPr/>
          <p:nvPr/>
        </p:nvSpPr>
        <p:spPr>
          <a:xfrm>
            <a:off x="7534656" y="1764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Random Forest looks highly accurate, but it failed to detect the suspicious class in the baseline test.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7315200" y="2697480"/>
            <a:ext cx="3977640" cy="1051560"/>
          </a:xfrm>
          <a:prstGeom prst="roundRect">
            <a:avLst>
              <a:gd name="adj" fmla="val 5217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0" y="269748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34656" y="2834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Why it matters</a:t>
            </a:r>
            <a:endParaRPr lang="en-US" sz="1160" dirty="0"/>
          </a:p>
        </p:txBody>
      </p:sp>
      <p:sp>
        <p:nvSpPr>
          <p:cNvPr id="18" name="Text 14"/>
          <p:cNvSpPr/>
          <p:nvPr/>
        </p:nvSpPr>
        <p:spPr>
          <a:xfrm>
            <a:off x="7534656" y="31363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In AML, missing suspicious transactions is more important than reporting high overall accuracy.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7315200" y="4069080"/>
            <a:ext cx="3977640" cy="1005840"/>
          </a:xfrm>
          <a:prstGeom prst="roundRect">
            <a:avLst>
              <a:gd name="adj" fmla="val 5455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0" y="4069080"/>
            <a:ext cx="64008" cy="10058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34656" y="4206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Best interpretation</a:t>
            </a:r>
            <a:endParaRPr lang="en-US" sz="1160" dirty="0"/>
          </a:p>
        </p:txBody>
      </p:sp>
      <p:sp>
        <p:nvSpPr>
          <p:cNvPr id="22" name="Text 18"/>
          <p:cNvSpPr/>
          <p:nvPr/>
        </p:nvSpPr>
        <p:spPr>
          <a:xfrm>
            <a:off x="7534656" y="45079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The ML stage is a baseline diagnostic experiment showing the need for richer behavioral features.</a:t>
            </a:r>
            <a:endParaRPr lang="en-US" sz="9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Lesson: The Model Must Find the Rare Class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MODEL INTERPRETATION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58191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1.00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203911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Random Forest Accuracy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3886200" y="14173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9352" y="158191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0.00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95928" y="203911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Suspicious Recall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858000" y="14173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1581912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</a:rPr>
              <a:t>0.00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67728" y="2039112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Suspicious F1 Score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372600" y="14173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1581912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0.502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82328" y="203911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569"/>
                </a:solidFill>
              </a:rPr>
              <a:t>ROC-AUC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914400" y="3886200"/>
            <a:ext cx="10332720" cy="96012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187952"/>
            <a:ext cx="9692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model can be accurate and still not useful for AML if it misses the suspicious class.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25880" y="5349240"/>
            <a:ext cx="9601200" cy="713232"/>
          </a:xfrm>
          <a:prstGeom prst="roundRect">
            <a:avLst>
              <a:gd name="adj" fmla="val 7692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5880" y="5349240"/>
            <a:ext cx="64008" cy="71323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45336" y="5486400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implication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1545336" y="5788152"/>
            <a:ext cx="9281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Future ML work should focus on recall, F1-score, ROC-AUC, threshold tuning, richer features, and analyst review.</a:t>
            </a:r>
            <a:endParaRPr lang="en-US" sz="9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Evidence: Data Pipeline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PROOF OF IMPLEMENTATION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ET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59395"/>
            <a:ext cx="5394960" cy="3882010"/>
          </a:xfrm>
          <a:prstGeom prst="rect">
            <a:avLst/>
          </a:prstGeom>
        </p:spPr>
      </p:pic>
      <p:pic>
        <p:nvPicPr>
          <p:cNvPr id="10" name="Image 1" descr="/mnt/data/ET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6874"/>
            <a:ext cx="5303520" cy="37470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089904"/>
            <a:ext cx="10744200" cy="384048"/>
          </a:xfrm>
          <a:prstGeom prst="roundRect">
            <a:avLst>
              <a:gd name="adj" fmla="val 952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6199632"/>
            <a:ext cx="10378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Evidence that the raw dataset was loaded, inspected, cleaned, and prepared before dashboarding and modeling.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Evidence: Statistical Validation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ANALYTICAL DEPTH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F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084" y="1051560"/>
            <a:ext cx="4928232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43800" y="14630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FF7E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3800" y="146304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63256" y="16002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Amount comparison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7763256" y="19019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Suspicious mean amount ≈ 46,622 vs normal mean ≈ 8,736.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543800" y="26974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43800" y="2697480"/>
            <a:ext cx="64008" cy="10515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63256" y="2834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Statistical test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7763256" y="31363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Mann-Whitney U p-value ≈ 0.019, indicating a statistically meaningful amount difference.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7543800" y="411480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43800" y="411480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63256" y="42519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meaning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7763256" y="45537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The statistical test supports amount as a risk signal, while EDA shows it is not enough alone.</a:t>
            </a:r>
            <a:endParaRPr lang="en-US" sz="9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Evidence: ML Pipeline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MODEL IMPLEMENTATION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pic>
        <p:nvPicPr>
          <p:cNvPr id="9" name="Image 0" descr="/mnt/data/M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03" y="1069848"/>
            <a:ext cx="5031874" cy="4160520"/>
          </a:xfrm>
          <a:prstGeom prst="rect">
            <a:avLst/>
          </a:prstGeom>
        </p:spPr>
      </p:pic>
      <p:pic>
        <p:nvPicPr>
          <p:cNvPr id="10" name="Image 1" descr="/mnt/data/ML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980" y="1069848"/>
            <a:ext cx="4460839" cy="4160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49808" y="6089904"/>
            <a:ext cx="10744200" cy="384048"/>
          </a:xfrm>
          <a:prstGeom prst="roundRect">
            <a:avLst>
              <a:gd name="adj" fmla="val 952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" y="6199632"/>
            <a:ext cx="10378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Evidence of model training and evaluation; results were interpreted carefully because of extreme class imbalance.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Value, Recommendations &amp; Future Enhancements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5EFF"/>
                </a:solidFill>
              </a:rPr>
              <a:t>FINAL DECISION SUPPORT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950976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Transaction Detection &amp; Risk Monitoring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896112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94A3B8"/>
                </a:solidFill>
              </a:rPr>
              <a:t>Final BI Graduation Defense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777240" y="114300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EEF7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43000"/>
            <a:ext cx="64008" cy="19659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1280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Business Benefits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996696" y="158191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Faster detection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Better visibility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Risk prioritization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Improved compliance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Decision support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434840" y="114300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EAFB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143000"/>
            <a:ext cx="64008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280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Key Recommendations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654296" y="158191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Monitor suspicious rate by payment type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Focus on high-risk typologies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Use KPIs in compliance meetings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Enhance customer-level risk profiling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Maintain analyst review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092440" y="114300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3F0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143000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280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B1F33"/>
                </a:solidFill>
              </a:rPr>
              <a:t>Future Enhancements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8311896" y="158191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Real-time transaction scoring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Additional ML models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Banking-system integration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Explainable AI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Network analysis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1005840" y="4800600"/>
            <a:ext cx="10149840" cy="868680"/>
          </a:xfrm>
          <a:prstGeom prst="roundRect">
            <a:avLst>
              <a:gd name="adj" fmla="val 736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507492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Final conclusion: the project transforms transaction data into actionable AML intelligence through ETL, EDA, Power BI monitoring, and ML-based prioritization.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45176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882" y="617220"/>
            <a:ext cx="1219169" cy="1219169"/>
          </a:xfrm>
          <a:prstGeom prst="ellipse">
            <a:avLst/>
          </a:prstGeom>
          <a:solidFill>
            <a:srgbClr val="2C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3833" y="5349240"/>
            <a:ext cx="1463003" cy="1463003"/>
          </a:xfrm>
          <a:prstGeom prst="ellipse">
            <a:avLst/>
          </a:prstGeom>
          <a:solidFill>
            <a:srgbClr val="2C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01" y="1097280"/>
            <a:ext cx="2682172" cy="548640"/>
          </a:xfrm>
          <a:prstGeom prst="roundRect">
            <a:avLst/>
          </a:prstGeom>
          <a:solidFill>
            <a:srgbClr val="2C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FINAL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68" y="2331720"/>
            <a:ext cx="3108882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</a:t>
            </a:r>
          </a:p>
          <a:p>
            <a:pPr algn="ctr">
              <a:spcBef>
                <a:spcPts val="600"/>
              </a:spcBef>
            </a:pPr>
            <a:r>
              <a:rPr sz="3400" b="1">
                <a:solidFill>
                  <a:srgbClr val="A2DAFF"/>
                </a:solidFill>
              </a:rPr>
              <a:t>شكرًا لكم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8" y="1234440"/>
            <a:ext cx="6339681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C2340"/>
                </a:solidFill>
              </a:rPr>
              <a:t>Questions &amp; Discussion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506173"/>
                </a:solidFill>
              </a:rPr>
              <a:t>Transaction Detection &amp; Risk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678" y="3086100"/>
            <a:ext cx="195067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18872"/>
          <a:lstStyle/>
          <a:p>
            <a:pPr algn="ctr"/>
            <a:r>
              <a:rPr sz="1600" b="1">
                <a:solidFill>
                  <a:srgbClr val="0C2340"/>
                </a:solidFill>
              </a:rPr>
              <a:t>BI Solution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506173"/>
                </a:solidFill>
              </a:rPr>
              <a:t>ETL, EDA, Power BI dashboard, and ML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141" y="3086100"/>
            <a:ext cx="195067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18872"/>
          <a:lstStyle/>
          <a:p>
            <a:pPr algn="ctr"/>
            <a:r>
              <a:rPr sz="1600" b="1">
                <a:solidFill>
                  <a:srgbClr val="0C2340"/>
                </a:solidFill>
              </a:rPr>
              <a:t>AML Focus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506173"/>
                </a:solidFill>
              </a:rPr>
              <a:t>Risk visibility and suspicious transaction prioritization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7604" y="3086100"/>
            <a:ext cx="195067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18872"/>
          <a:lstStyle/>
          <a:p>
            <a:pPr algn="ctr"/>
            <a:r>
              <a:rPr sz="1600" b="1">
                <a:solidFill>
                  <a:srgbClr val="0C2340"/>
                </a:solidFill>
              </a:rPr>
              <a:t>Business Value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506173"/>
                </a:solidFill>
              </a:rPr>
              <a:t>Better monitoring, faster review, and 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5623560"/>
            <a:ext cx="6339681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06173"/>
                </a:solidFill>
              </a:rPr>
              <a:t>Fadi Sarhan (202020144)  |  Supervised by Dr. Husam Barham  |  University of Petra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42" y="6309360"/>
            <a:ext cx="73150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291A0"/>
                </a:solidFill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University of Petra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Detection &amp; Risk Monitoring - Final BI Defense</dc:title>
  <dc:subject>Transaction Detection &amp; Risk Monitoring</dc:subject>
  <dc:creator>Fadi Sarhan</dc:creator>
  <cp:lastModifiedBy>Fadi Sarhan</cp:lastModifiedBy>
  <cp:revision>1</cp:revision>
  <dcterms:created xsi:type="dcterms:W3CDTF">2026-06-07T14:35:00Z</dcterms:created>
  <dcterms:modified xsi:type="dcterms:W3CDTF">2026-06-07T14:35:00Z</dcterms:modified>
</cp:coreProperties>
</file>